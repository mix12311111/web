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  <a:latin typeface="Calibri"/>
              </a:defRPr>
            </a:pPr>
            <a:r>
              <a:t>BÀI TẬP CUỐI KHÓA - DỰ ÁN WEBSITE</a:t>
            </a:r>
          </a:p>
          <a:p>
            <a:pPr algn="l">
              <a:spcBef>
                <a:spcPts val="1000"/>
              </a:spcBef>
              <a:defRPr sz="4400" b="1">
                <a:solidFill>
                  <a:srgbClr val="FFFFFF"/>
                </a:solidFill>
                <a:latin typeface="Georgia"/>
              </a:defRPr>
            </a:pPr>
            <a:r>
              <a:t>NovaNews - Trang Báo Mới Thông Minh</a:t>
            </a:r>
          </a:p>
          <a:p>
            <a:pPr algn="l">
              <a:spcBef>
                <a:spcPts val="800"/>
              </a:spcBef>
              <a:defRPr sz="1600" i="1">
                <a:solidFill>
                  <a:srgbClr val="E2E8F0"/>
                </a:solidFill>
                <a:latin typeface="Calibri"/>
              </a:defRPr>
            </a:pPr>
            <a:r>
              <a:t>Tích hợp công nghệ dịch thuật tự động và Trợ lý ảo Chatbot Gemini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41148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C9A84C"/>
                </a:solidFill>
                <a:latin typeface="Calibri"/>
              </a:defRPr>
            </a:pPr>
            <a:r>
              <a:t>HỌC VIÊN THỰC HIỆN:</a:t>
            </a:r>
          </a:p>
          <a:p>
            <a:pPr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[Họ và tên Học viên]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Lớp: Web Development cuối khóa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114800"/>
            <a:ext cx="41148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C9A84C"/>
                </a:solidFill>
                <a:latin typeface="Calibri"/>
              </a:defRPr>
            </a:pPr>
            <a:r>
              <a:t>NGƯỜI HƯỚNG DẪN:</a:t>
            </a:r>
          </a:p>
          <a:p>
            <a:pPr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[Họ và tên Giảng viên]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Học viện Đào tạo Công nghệ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Lý do chọn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Thực trạng &amp; Nhu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991B1B"/>
                </a:solidFill>
              </a:rPr>
              <a:t>Nhu cầu tin tức tức thời:</a:t>
            </a:r>
            <a:r>
              <a:t> Độc giả hiện đại cần cập nhật thông tin nhanh chóng từ nhiều nguồn chất lượng.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991B1B"/>
                </a:solidFill>
              </a:rPr>
              <a:t>Giao diện tối ưu:</a:t>
            </a:r>
            <a:r>
              <a:t> Các website cũ thường quá nhiều quảng cáo, tốc độ tải trang chậm và khó đọc.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991B1B"/>
                </a:solidFill>
              </a:rPr>
              <a:t>Rào cản ngôn ngữ:</a:t>
            </a:r>
            <a:r>
              <a:t> Nhiều tin tức quốc tế nóng hổi bằng tiếng Anh chưa được biên dịch kịp thời cho độc giả Việt Nam.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Giải pháp từ NovaNews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Trải nghiệm đọc tinh tế:</a:t>
            </a:r>
            <a:r>
              <a:t> Tối giản quảng cáo, thiết kế luxury sang trọng giúp độc giả tập trung tối đa vào nội dung.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Tích hợp AI đột phá:</a:t>
            </a:r>
            <a:r>
              <a:t> Sử dụng Gemini API dịch thuật trực tiếp tin quốc tế sang tiếng Việt chỉ với một cú click chuột.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Tương tác thông minh:</a:t>
            </a:r>
            <a:r>
              <a:t> Trợ lý ảo AI Chatbot đồng hành, tóm tắt và giải đáp thắc mắc về mọi tin tức được đăng tải.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Mục tiêu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Hiệu năng &amp; Tốc độ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Xây dựng hệ thống tin tức tối ưu hóa cao độ, thời gian tải trang dưới 1.5 giây.</a:t>
            </a:r>
            <a:br/>
            <a:r>
              <a:t>Tối ưu hóa Serverless API để giảm thiểu thời gian chờ dữ liệu.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Trải nghiệm Độc giả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Thiết kế Responsive hoàn hảo trên mobile.</a:t>
            </a:r>
            <a:br/>
            <a:r>
              <a:t>Cung cấp các tính năng tùy biến nâng cao: Chế độ Dark Mode, Thay đổi cỡ chữ, Lưu bài viết yêu thích trực tuyến.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Tích hợp Trí tuệ Nhân tạo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Triển khai thành công API Google Gemini để dịch tự động các bài báo tiếng Anh.</a:t>
            </a:r>
            <a:br/>
            <a:r>
              <a:t>Xây dựng trợ lý ảo Chatbot giải đáp thông minh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Đối tượng &amp; 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1. Phân hệ cho Độc giả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Cập nhật tin tức:</a:t>
            </a:r>
            <a:r>
              <a:t> Đọc tin theo nhiều danh mục (Kinh doanh, Công nghệ, Thể thao, Giải trí...).</a:t>
            </a:r>
          </a:p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Tìm kiếm tin tức:</a:t>
            </a:r>
            <a:r>
              <a:t> Bộ lọc tìm kiếm nhanh theo từ khóa chính xác.</a:t>
            </a:r>
          </a:p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Dịch thuật AI:</a:t>
            </a:r>
            <a:r>
              <a:t> Bản dịch Anh - Việt chuẩn xác, tự nhiên bằng Gemini AI.</a:t>
            </a:r>
          </a:p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Hỏi đáp Chatbot:</a:t>
            </a:r>
            <a:r>
              <a:t> Chat trực tiếp với trợ lý ảo để hỏi về bối cảnh bài báo.</a:t>
            </a:r>
          </a:p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Lưu trữ bài viết:</a:t>
            </a:r>
            <a:r>
              <a:t> Đánh dấu các tin bài quan trọng để đọc lại sau.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2. Phân hệ cho Ban biên tập (CMS)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91B1B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Quản lý bài viết:</a:t>
            </a:r>
            <a:r>
              <a:t> Thêm mới, chỉnh sửa chi tiết và xóa các bài báo cũ dễ dàng.</a:t>
            </a:r>
          </a:p>
          <a:p>
            <a:pPr>
              <a:defRPr sz="1300">
                <a:solidFill>
                  <a:srgbClr val="991B1B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Phân loại danh mục:</a:t>
            </a:r>
            <a:r>
              <a:t> Cấu trúc cây thư mục tin tức để sắp xếp bài viết khoa học.</a:t>
            </a:r>
          </a:p>
          <a:p>
            <a:pPr>
              <a:defRPr sz="1300">
                <a:solidFill>
                  <a:srgbClr val="991B1B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Duyệt tin tự động/Thủ công:</a:t>
            </a:r>
            <a:r>
              <a:t> Cơ chế phê duyệt tin nhanh chóng trước khi public.</a:t>
            </a:r>
          </a:p>
          <a:p>
            <a:pPr>
              <a:defRPr sz="1300">
                <a:solidFill>
                  <a:srgbClr val="991B1B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Theo dõi thống kê:</a:t>
            </a:r>
            <a:r>
              <a:t> Xem số lượng bài viết và tương tác của hệ thống.</a:t>
            </a:r>
          </a:p>
          <a:p>
            <a:pPr>
              <a:defRPr sz="1300">
                <a:solidFill>
                  <a:srgbClr val="991B1B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Vận hành Serverless:</a:t>
            </a:r>
            <a:r>
              <a:t> Tối ưu hóa hạ tầng vận hành không tốn chi phí máy chủ.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HTML5 &amp; Semantic tags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CSS3 Flexbox / Grid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Pure JavaScript (ES6+)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Responsive Design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Google Fonts / Playfair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Node.js Runtime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Vercel Serverless Functions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Express API Routing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Vercel.json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CORS &amp; Headers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GNews API (News Source)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Google Gemini API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Gemini 1.5 Flash Model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JSON Exchange Format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Browser LocalStorage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Git Version Control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GitHub Repository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Vercel Hosting Cloud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Environment Variables (.env)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▪ Continuous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Giao diện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Trang chủ &amp; Danh sách 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2926080" cy="283464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748B"/>
                </a:solidFill>
                <a:latin typeface="Calibri"/>
              </a:defRPr>
            </a:pPr>
            <a:br/>
            <a:r>
              <a:t>[ CHÈN ẢNH CHỤP</a:t>
            </a:r>
            <a:br/>
            <a:r>
              <a:t>MÀN HÌNH TẠI ĐÂY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Chi tiết tin &amp; Dịch thuật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560320"/>
            <a:ext cx="2926080" cy="283464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748B"/>
                </a:solidFill>
                <a:latin typeface="Calibri"/>
              </a:defRPr>
            </a:pPr>
            <a:br/>
            <a:r>
              <a:t>[ CHÈN ẢNH CHỤP</a:t>
            </a:r>
            <a:br/>
            <a:r>
              <a:t>MÀN HÌNH TẠI ĐÂY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Trợ lý ảo Gemini Chatbot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2926080" cy="283464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748B"/>
                </a:solidFill>
                <a:latin typeface="Calibri"/>
              </a:defRPr>
            </a:pPr>
            <a:br/>
            <a:r>
              <a:t>[ CHÈN ẢNH CHỤP</a:t>
            </a:r>
            <a:br/>
            <a:r>
              <a:t>MÀN HÌNH TẠI ĐÂY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Kết quả đạt được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NovaNews - Báo mới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Những điểm đã hoàn thành tốt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Hệ thống hoạt động mượt mà:</a:t>
            </a:r>
            <a:r>
              <a:t> Trang web chạy cực nhanh, giao diện Responsive tương thích tốt trên điện thoại và máy tính bảng.</a:t>
            </a:r>
          </a:p>
          <a:p>
            <a:pPr>
              <a:spcAft>
                <a:spcPts val="400"/>
              </a:spcAft>
              <a:defRPr sz="135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Tích hợp AI ổn định:</a:t>
            </a:r>
            <a:r>
              <a:t> API dịch bài viết từ Gemini phản hồi nhanh, chính xác; Chatbot đàm thoại tự nhiên, thân thiện.</a:t>
            </a:r>
          </a:p>
          <a:p>
            <a:pPr>
              <a:spcAft>
                <a:spcPts val="400"/>
              </a:spcAft>
              <a:defRPr sz="1350">
                <a:solidFill>
                  <a:srgbClr val="10B981"/>
                </a:solidFill>
                <a:latin typeface="Calibri"/>
              </a:defRPr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Vận hành Serverless hoàn chỉnh:</a:t>
            </a:r>
            <a:r>
              <a:t> Triển khai thành công trên hosting Vercel với CI/CD tự động.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698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Hướng phát triển tiếp theo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991B1B"/>
                </a:solidFill>
                <a:latin typeface="Calibri"/>
              </a:defRPr>
            </a:pPr>
            <a:r>
              <a:t>➔ </a:t>
            </a:r>
            <a:r>
              <a:rPr b="1">
                <a:solidFill>
                  <a:srgbClr val="0F172A"/>
                </a:solidFill>
              </a:rPr>
              <a:t>Tích hợp AI gợi ý tin tức:</a:t>
            </a:r>
            <a:r>
              <a:t> Phân tích hành vi và sở thích đọc báo của từng cá nhân để đề xuất tin bài phù hợp nhất.</a:t>
            </a:r>
          </a:p>
          <a:p>
            <a:pPr>
              <a:spcAft>
                <a:spcPts val="400"/>
              </a:spcAft>
              <a:defRPr sz="1350">
                <a:solidFill>
                  <a:srgbClr val="991B1B"/>
                </a:solidFill>
                <a:latin typeface="Calibri"/>
              </a:defRPr>
            </a:pPr>
            <a:r>
              <a:t>➔ </a:t>
            </a:r>
            <a:r>
              <a:rPr b="1">
                <a:solidFill>
                  <a:srgbClr val="0F172A"/>
                </a:solidFill>
              </a:rPr>
              <a:t>Hệ thống Thông báo đẩy (Push Notification):</a:t>
            </a:r>
            <a:r>
              <a:t> Báo tin nóng tức thời đến thiết bị của độc giả ngay khi có sự kiện hot.</a:t>
            </a:r>
          </a:p>
          <a:p>
            <a:pPr>
              <a:spcAft>
                <a:spcPts val="400"/>
              </a:spcAft>
              <a:defRPr sz="1350">
                <a:solidFill>
                  <a:srgbClr val="991B1B"/>
                </a:solidFill>
                <a:latin typeface="Calibri"/>
              </a:defRPr>
            </a:pPr>
            <a:r>
              <a:t>➔ </a:t>
            </a:r>
            <a:r>
              <a:rPr b="1">
                <a:solidFill>
                  <a:srgbClr val="0F172A"/>
                </a:solidFill>
              </a:rPr>
              <a:t>Hệ thống thành viên &amp; thảo luận:</a:t>
            </a:r>
            <a:r>
              <a:t> Xây dựng tài khoản độc giả, hỗ trợ lưu lịch sử đọc, viết bình luận và tương tác cộng đồng.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Georgia"/>
              </a:defRPr>
            </a:pPr>
            <a:r>
              <a:t>XIN CHÂN THÀNH CẢM ƠN!</a:t>
            </a:r>
          </a:p>
          <a:p>
            <a:pPr algn="l">
              <a:spcBef>
                <a:spcPts val="1000"/>
              </a:spcBef>
              <a:defRPr sz="2000">
                <a:solidFill>
                  <a:srgbClr val="C9A84C"/>
                </a:solidFill>
                <a:latin typeface="Calibri"/>
              </a:defRPr>
            </a:pPr>
            <a:r>
              <a:t>Quý Thầy/Cô trong Hội đồng phản biện và các bạn học viên!</a:t>
            </a:r>
          </a:p>
          <a:p>
            <a:pPr algn="l">
              <a:spcBef>
                <a:spcPts val="20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Rất mong sẽ nhận được những ý kiến đóng góp quý báu từ quý Thầy/Cô để dự án "NovaNews" hoàn thiện hơn nữa.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C9A84C"/>
                </a:solidFill>
                <a:latin typeface="Calibri"/>
              </a:defRPr>
            </a:pPr>
            <a:r>
              <a:t>THÔNG TIN LIÊN HỆ &amp; HỎI ĐÁP (Q&amp;A):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Email: [Email của bạn] | Điện thoại: [Số điện thoại]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GitHub: [Đường dẫn Repository dự án]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